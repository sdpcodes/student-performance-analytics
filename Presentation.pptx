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ublic Sans Bold" charset="1" panose="00000000000000000000"/>
      <p:regular r:id="rId14"/>
    </p:embeddedFont>
    <p:embeddedFont>
      <p:font typeface="Playfair Display" charset="1" panose="00000500000000000000"/>
      <p:regular r:id="rId15"/>
    </p:embeddedFont>
    <p:embeddedFont>
      <p:font typeface="Public Sans" charset="1" panose="00000000000000000000"/>
      <p:regular r:id="rId16"/>
    </p:embeddedFont>
    <p:embeddedFont>
      <p:font typeface="Playfair Display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76417"/>
            <a:ext cx="16230600" cy="34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b="true" sz="1814" spc="41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 DATA MINING APPROACH USING THE OPEN UNIVERSITY LEARNING ANALYTICS DATASET</a:t>
            </a:r>
          </a:p>
          <a:p>
            <a:pPr algn="l">
              <a:lnSpc>
                <a:spcPts val="10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16407" y="1062140"/>
            <a:ext cx="16408332" cy="408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1"/>
              </a:lnSpc>
            </a:pPr>
            <a:r>
              <a:rPr lang="en-US" sz="8661" spc="4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Intelligent Student Performance Analytics and Learning Strategy Optimization</a:t>
            </a:r>
          </a:p>
          <a:p>
            <a:pPr algn="l">
              <a:lnSpc>
                <a:spcPts val="788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8479155"/>
            <a:ext cx="786243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S.D. Prematunga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268382R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&amp; OBJECTIVES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645212"/>
            <a:ext cx="7953237" cy="2873376"/>
            <a:chOff x="0" y="0"/>
            <a:chExt cx="10604315" cy="38311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0604315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The Challenge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24324"/>
              <a:ext cx="10604315" cy="3106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Student dropout and failure remain persistent issues in higher education.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Traditional identification of at-risk students is reactive and often to</a:t>
              </a: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 late.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</a:t>
              </a: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eed: Proactive, data-driven early-warning systems.</a:t>
              </a:r>
            </a:p>
            <a:p>
              <a:pPr algn="l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645212"/>
            <a:ext cx="8137129" cy="3263901"/>
            <a:chOff x="0" y="0"/>
            <a:chExt cx="10849505" cy="435186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0849505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Objectives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24324"/>
              <a:ext cx="10849505" cy="3627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Identify key factors influencing student outcomes.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Build predictive models to flag at-risk students early.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Discover natural student</a:t>
              </a: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segments through clustering.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</a:t>
              </a:r>
              <a:r>
                <a:rPr lang="en-US" sz="21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enerate actionable recommendations for educators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4579" y="2376811"/>
            <a:ext cx="16242893" cy="68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Open University Learning Analytics Dataset (OULAD):</a:t>
            </a:r>
          </a:p>
          <a:p>
            <a:pPr algn="l">
              <a:lnSpc>
                <a:spcPts val="3445"/>
              </a:lnSpc>
            </a:pP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b="true" sz="22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32,593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students across multiple course presentations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b="true" sz="22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7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interrelated data files merged into a unified dataset</a:t>
            </a: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Integration Pipeline:</a:t>
            </a:r>
          </a:p>
          <a:p>
            <a:pPr algn="l">
              <a:lnSpc>
                <a:spcPts val="3445"/>
              </a:lnSpc>
            </a:pP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b="true" sz="22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Student Assessments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total_weighted_score, avg_score, assessments_submitted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b="true" sz="22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VLE Interactions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total_clicks, active_days, unique_activities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b="true" sz="22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Registration Records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earliest_registration, has_unregistered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b="true" sz="22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Student Demographics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gender, age_band, education, region, disability</a:t>
            </a: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Missing values are filled with 0</a:t>
            </a: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Engineered features (5): 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clicks_per_day, assessment_completion_rate, score_per_assessment, early_registration, is_at_risk</a:t>
            </a:r>
          </a:p>
          <a:p>
            <a:pPr algn="l">
              <a:lnSpc>
                <a:spcPts val="344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&amp; PREPARATION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25221"/>
            <a:ext cx="16242893" cy="464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Target Distribution: </a:t>
            </a:r>
          </a:p>
          <a:p>
            <a:pPr algn="l" marL="507463" indent="-253732" lvl="1">
              <a:lnSpc>
                <a:spcPts val="3055"/>
              </a:lnSpc>
              <a:buFont typeface="Arial"/>
              <a:buChar char="•"/>
            </a:pPr>
            <a:r>
              <a:rPr lang="en-US" b="true" sz="23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52.8%</a:t>
            </a:r>
            <a:r>
              <a:rPr lang="en-US" sz="23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At-Risk (Fail + Withdrawn) vs. </a:t>
            </a:r>
            <a:r>
              <a:rPr lang="en-US" b="true" sz="2350" spc="11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47.2%</a:t>
            </a:r>
            <a:r>
              <a:rPr lang="en-US" sz="23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Successful</a:t>
            </a:r>
          </a:p>
          <a:p>
            <a:pPr algn="l">
              <a:lnSpc>
                <a:spcPts val="3055"/>
              </a:lnSpc>
            </a:pPr>
          </a:p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Patterns Discovered: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Engagement : Successful students exhibit substantially higher total clicks, </a:t>
            </a:r>
          </a:p>
          <a:p>
            <a:pPr algn="l">
              <a:lnSpc>
                <a:spcPts val="2925"/>
              </a:lnSpc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active days, unique activities, and total VLE interactions.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Assessment performance: Successful students exhibit Higher average score, </a:t>
            </a:r>
          </a:p>
          <a:p>
            <a:pPr algn="l">
              <a:lnSpc>
                <a:spcPts val="2925"/>
              </a:lnSpc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higher total weighted score and higher number of assessment submissions.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Educational analysis: Student has more prior qualifications</a:t>
            </a:r>
          </a:p>
          <a:p>
            <a:pPr algn="l">
              <a:lnSpc>
                <a:spcPts val="2925"/>
              </a:lnSpc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</a:t>
            </a: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exhibits a higher pass rate.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Disability: Students who are disabled have a higher withdrawal rate.</a:t>
            </a:r>
          </a:p>
          <a:p>
            <a:pPr algn="l">
              <a:lnSpc>
                <a:spcPts val="344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EXPLORATORY DATA ANALYSIS — KEY FINDINGS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437739" y="2001444"/>
            <a:ext cx="5799732" cy="2247396"/>
          </a:xfrm>
          <a:custGeom>
            <a:avLst/>
            <a:gdLst/>
            <a:ahLst/>
            <a:cxnLst/>
            <a:rect r="r" b="b" t="t" l="l"/>
            <a:pathLst>
              <a:path h="2247396" w="5799732">
                <a:moveTo>
                  <a:pt x="0" y="0"/>
                </a:moveTo>
                <a:lnTo>
                  <a:pt x="5799732" y="0"/>
                </a:lnTo>
                <a:lnTo>
                  <a:pt x="5799732" y="2247396"/>
                </a:lnTo>
                <a:lnTo>
                  <a:pt x="0" y="2247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56044" y="4248840"/>
            <a:ext cx="5481427" cy="3891813"/>
          </a:xfrm>
          <a:custGeom>
            <a:avLst/>
            <a:gdLst/>
            <a:ahLst/>
            <a:cxnLst/>
            <a:rect r="r" b="b" t="t" l="l"/>
            <a:pathLst>
              <a:path h="3891813" w="5481427">
                <a:moveTo>
                  <a:pt x="0" y="0"/>
                </a:moveTo>
                <a:lnTo>
                  <a:pt x="5481427" y="0"/>
                </a:lnTo>
                <a:lnTo>
                  <a:pt x="5481427" y="3891814"/>
                </a:lnTo>
                <a:lnTo>
                  <a:pt x="0" y="3891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25508" y="8217813"/>
            <a:ext cx="5911964" cy="2069187"/>
          </a:xfrm>
          <a:custGeom>
            <a:avLst/>
            <a:gdLst/>
            <a:ahLst/>
            <a:cxnLst/>
            <a:rect r="r" b="b" t="t" l="l"/>
            <a:pathLst>
              <a:path h="2069187" w="5911964">
                <a:moveTo>
                  <a:pt x="0" y="0"/>
                </a:moveTo>
                <a:lnTo>
                  <a:pt x="5911963" y="0"/>
                </a:lnTo>
                <a:lnTo>
                  <a:pt x="5911963" y="2069187"/>
                </a:lnTo>
                <a:lnTo>
                  <a:pt x="0" y="206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6871" y="7517844"/>
            <a:ext cx="10208871" cy="2769156"/>
          </a:xfrm>
          <a:custGeom>
            <a:avLst/>
            <a:gdLst/>
            <a:ahLst/>
            <a:cxnLst/>
            <a:rect r="r" b="b" t="t" l="l"/>
            <a:pathLst>
              <a:path h="2769156" w="10208871">
                <a:moveTo>
                  <a:pt x="0" y="0"/>
                </a:moveTo>
                <a:lnTo>
                  <a:pt x="10208871" y="0"/>
                </a:lnTo>
                <a:lnTo>
                  <a:pt x="10208871" y="2769156"/>
                </a:lnTo>
                <a:lnTo>
                  <a:pt x="0" y="27691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1732186"/>
            <a:ext cx="10454672" cy="170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Random Forest and Gradient Boosting Models with 80/20 data split. Assessment engagement dominates prediction. Students who      submit and score well are far less likely to fail.</a:t>
            </a:r>
          </a:p>
          <a:p>
            <a:pPr algn="l">
              <a:lnSpc>
                <a:spcPts val="344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970973" y="893879"/>
            <a:ext cx="16124412" cy="129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6"/>
              </a:lnSpc>
              <a:spcBef>
                <a:spcPct val="0"/>
              </a:spcBef>
            </a:pPr>
            <a:r>
              <a:rPr lang="en-US" b="true" sz="3690" spc="83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PREDICTIVE MODELING RESULTS</a:t>
            </a:r>
          </a:p>
          <a:p>
            <a:pPr algn="l">
              <a:lnSpc>
                <a:spcPts val="5166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569469" y="3042063"/>
            <a:ext cx="4666847" cy="3657641"/>
          </a:xfrm>
          <a:custGeom>
            <a:avLst/>
            <a:gdLst/>
            <a:ahLst/>
            <a:cxnLst/>
            <a:rect r="r" b="b" t="t" l="l"/>
            <a:pathLst>
              <a:path h="3657641" w="4666847">
                <a:moveTo>
                  <a:pt x="0" y="0"/>
                </a:moveTo>
                <a:lnTo>
                  <a:pt x="4666847" y="0"/>
                </a:lnTo>
                <a:lnTo>
                  <a:pt x="4666847" y="3657641"/>
                </a:lnTo>
                <a:lnTo>
                  <a:pt x="0" y="3657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20" y="6528412"/>
            <a:ext cx="4666847" cy="3657641"/>
          </a:xfrm>
          <a:custGeom>
            <a:avLst/>
            <a:gdLst/>
            <a:ahLst/>
            <a:cxnLst/>
            <a:rect r="r" b="b" t="t" l="l"/>
            <a:pathLst>
              <a:path h="3657641" w="4666847">
                <a:moveTo>
                  <a:pt x="0" y="0"/>
                </a:moveTo>
                <a:lnTo>
                  <a:pt x="4666847" y="0"/>
                </a:lnTo>
                <a:lnTo>
                  <a:pt x="4666847" y="3657641"/>
                </a:lnTo>
                <a:lnTo>
                  <a:pt x="0" y="3657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0973" y="3441601"/>
            <a:ext cx="3369291" cy="2370310"/>
          </a:xfrm>
          <a:custGeom>
            <a:avLst/>
            <a:gdLst/>
            <a:ahLst/>
            <a:cxnLst/>
            <a:rect r="r" b="b" t="t" l="l"/>
            <a:pathLst>
              <a:path h="2370310" w="3369291">
                <a:moveTo>
                  <a:pt x="0" y="0"/>
                </a:moveTo>
                <a:lnTo>
                  <a:pt x="3369291" y="0"/>
                </a:lnTo>
                <a:lnTo>
                  <a:pt x="3369291" y="2370310"/>
                </a:lnTo>
                <a:lnTo>
                  <a:pt x="0" y="2370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32631" y="7172077"/>
            <a:ext cx="3369291" cy="2370310"/>
          </a:xfrm>
          <a:custGeom>
            <a:avLst/>
            <a:gdLst/>
            <a:ahLst/>
            <a:cxnLst/>
            <a:rect r="r" b="b" t="t" l="l"/>
            <a:pathLst>
              <a:path h="2370310" w="3369291">
                <a:moveTo>
                  <a:pt x="0" y="0"/>
                </a:moveTo>
                <a:lnTo>
                  <a:pt x="3369291" y="0"/>
                </a:lnTo>
                <a:lnTo>
                  <a:pt x="3369291" y="2370310"/>
                </a:lnTo>
                <a:lnTo>
                  <a:pt x="0" y="2370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61543" y="1872002"/>
            <a:ext cx="6264819" cy="4354049"/>
          </a:xfrm>
          <a:custGeom>
            <a:avLst/>
            <a:gdLst/>
            <a:ahLst/>
            <a:cxnLst/>
            <a:rect r="r" b="b" t="t" l="l"/>
            <a:pathLst>
              <a:path h="4354049" w="6264819">
                <a:moveTo>
                  <a:pt x="0" y="0"/>
                </a:moveTo>
                <a:lnTo>
                  <a:pt x="6264818" y="0"/>
                </a:lnTo>
                <a:lnTo>
                  <a:pt x="6264818" y="4354049"/>
                </a:lnTo>
                <a:lnTo>
                  <a:pt x="0" y="4354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33179" y="6361052"/>
            <a:ext cx="8693183" cy="3825000"/>
          </a:xfrm>
          <a:custGeom>
            <a:avLst/>
            <a:gdLst/>
            <a:ahLst/>
            <a:cxnLst/>
            <a:rect r="r" b="b" t="t" l="l"/>
            <a:pathLst>
              <a:path h="3825000" w="8693183">
                <a:moveTo>
                  <a:pt x="0" y="0"/>
                </a:moveTo>
                <a:lnTo>
                  <a:pt x="8693182" y="0"/>
                </a:lnTo>
                <a:lnTo>
                  <a:pt x="8693182" y="3825001"/>
                </a:lnTo>
                <a:lnTo>
                  <a:pt x="0" y="38250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4579" y="2376811"/>
            <a:ext cx="16242893" cy="785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K-Means Clustering (K=3, Silhouette Score = 0.351):</a:t>
            </a: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</a:p>
          <a:p>
            <a:pPr algn="l">
              <a:lnSpc>
                <a:spcPts val="3445"/>
              </a:lnSpc>
            </a:pPr>
            <a:r>
              <a:rPr lang="en-US" sz="2650" spc="1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Association Rule Mining:</a:t>
            </a:r>
          </a:p>
          <a:p>
            <a:pPr algn="l">
              <a:lnSpc>
                <a:spcPts val="3445"/>
              </a:lnSpc>
            </a:pP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Apriori Algorithm: Min support 0.05, Confidence 0.5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7,320 Rules Discovered</a:t>
            </a:r>
          </a:p>
          <a:p>
            <a:pPr algn="l" marL="485874" indent="-242937" lvl="1">
              <a:lnSpc>
                <a:spcPts val="2925"/>
              </a:lnSpc>
              <a:buFont typeface="Arial"/>
              <a:buChar char="•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rule: </a:t>
            </a:r>
          </a:p>
          <a:p>
            <a:pPr algn="l" marL="971748" indent="-323916" lvl="2">
              <a:lnSpc>
                <a:spcPts val="2925"/>
              </a:lnSpc>
              <a:buFont typeface="Arial"/>
              <a:buChar char="⚬"/>
            </a:pPr>
            <a:r>
              <a:rPr lang="en-US" sz="2250" spc="1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Low score + Inactive VLE + Few assessments → Withdrawn (lift ~5.5)</a:t>
            </a:r>
          </a:p>
          <a:p>
            <a:pPr algn="l">
              <a:lnSpc>
                <a:spcPts val="2925"/>
              </a:lnSpc>
            </a:pPr>
          </a:p>
          <a:p>
            <a:pPr algn="l">
              <a:lnSpc>
                <a:spcPts val="344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807316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UNSUPERVISED LEARNING — STUDENT SEGMENTS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154963" y="3133591"/>
            <a:ext cx="9751595" cy="2217088"/>
          </a:xfrm>
          <a:custGeom>
            <a:avLst/>
            <a:gdLst/>
            <a:ahLst/>
            <a:cxnLst/>
            <a:rect r="r" b="b" t="t" l="l"/>
            <a:pathLst>
              <a:path h="2217088" w="9751595">
                <a:moveTo>
                  <a:pt x="0" y="0"/>
                </a:moveTo>
                <a:lnTo>
                  <a:pt x="9751595" y="0"/>
                </a:lnTo>
                <a:lnTo>
                  <a:pt x="9751595" y="2217088"/>
                </a:lnTo>
                <a:lnTo>
                  <a:pt x="0" y="2217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81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8610" y="3489716"/>
            <a:ext cx="7518417" cy="2631446"/>
          </a:xfrm>
          <a:custGeom>
            <a:avLst/>
            <a:gdLst/>
            <a:ahLst/>
            <a:cxnLst/>
            <a:rect r="r" b="b" t="t" l="l"/>
            <a:pathLst>
              <a:path h="2631446" w="7518417">
                <a:moveTo>
                  <a:pt x="0" y="0"/>
                </a:moveTo>
                <a:lnTo>
                  <a:pt x="7518417" y="0"/>
                </a:lnTo>
                <a:lnTo>
                  <a:pt x="7518417" y="2631446"/>
                </a:lnTo>
                <a:lnTo>
                  <a:pt x="0" y="2631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84132" y="5557858"/>
            <a:ext cx="8830056" cy="3300233"/>
          </a:xfrm>
          <a:custGeom>
            <a:avLst/>
            <a:gdLst/>
            <a:ahLst/>
            <a:cxnLst/>
            <a:rect r="r" b="b" t="t" l="l"/>
            <a:pathLst>
              <a:path h="3300233" w="8830056">
                <a:moveTo>
                  <a:pt x="0" y="0"/>
                </a:moveTo>
                <a:lnTo>
                  <a:pt x="8830055" y="0"/>
                </a:lnTo>
                <a:lnTo>
                  <a:pt x="8830055" y="3300233"/>
                </a:lnTo>
                <a:lnTo>
                  <a:pt x="0" y="3300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4579" y="2367286"/>
            <a:ext cx="14985580" cy="674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</a:pPr>
            <a:r>
              <a:rPr lang="en-US" sz="3024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Data-Driven Recommendations:</a:t>
            </a:r>
          </a:p>
          <a:p>
            <a:pPr algn="l">
              <a:lnSpc>
                <a:spcPts val="3932"/>
              </a:lnSpc>
            </a:pP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Deploy early-warning system: Use a model to flag at-risk students in the early stage</a:t>
            </a: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Prioritize Cluster 0 (Moderate) students: Engaged but at risk; highest intervention ROI</a:t>
            </a: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Monitor module unregistration: Early red flag for advisor outreach</a:t>
            </a: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Assessment completion support: Completion rate is a top predictor of success</a:t>
            </a: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Investigate Cluster 1 barriers: Understand why disengaged students never participate</a:t>
            </a:r>
          </a:p>
          <a:p>
            <a:pPr algn="l">
              <a:lnSpc>
                <a:spcPts val="3338"/>
              </a:lnSpc>
            </a:pPr>
          </a:p>
          <a:p>
            <a:pPr algn="l">
              <a:lnSpc>
                <a:spcPts val="3932"/>
              </a:lnSpc>
            </a:pPr>
            <a:r>
              <a:rPr lang="en-US" sz="3024" spc="15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Ethical Considerations:</a:t>
            </a:r>
          </a:p>
          <a:p>
            <a:pPr algn="l">
              <a:lnSpc>
                <a:spcPts val="3932"/>
              </a:lnSpc>
            </a:pP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udit models for demographic bias</a:t>
            </a: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predictions to support, not penalize students</a:t>
            </a:r>
          </a:p>
          <a:p>
            <a:pPr algn="l" marL="554481" indent="-277241" lvl="1">
              <a:lnSpc>
                <a:spcPts val="3338"/>
              </a:lnSpc>
              <a:buFont typeface="Arial"/>
              <a:buChar char="•"/>
            </a:pPr>
            <a:r>
              <a:rPr lang="en-US" sz="2568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Ensure privacy compliance and student consent</a:t>
            </a:r>
          </a:p>
          <a:p>
            <a:pPr algn="l">
              <a:lnSpc>
                <a:spcPts val="3932"/>
              </a:lnSpc>
            </a:pPr>
          </a:p>
          <a:p>
            <a:pPr algn="l">
              <a:lnSpc>
                <a:spcPts val="393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RECOMMENDATIONS &amp; CONCLUSION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218684" y="5344846"/>
            <a:ext cx="4715965" cy="4130566"/>
          </a:xfrm>
          <a:custGeom>
            <a:avLst/>
            <a:gdLst/>
            <a:ahLst/>
            <a:cxnLst/>
            <a:rect r="r" b="b" t="t" l="l"/>
            <a:pathLst>
              <a:path h="4130566" w="4715965">
                <a:moveTo>
                  <a:pt x="0" y="0"/>
                </a:moveTo>
                <a:lnTo>
                  <a:pt x="4715966" y="0"/>
                </a:lnTo>
                <a:lnTo>
                  <a:pt x="4715966" y="4130565"/>
                </a:lnTo>
                <a:lnTo>
                  <a:pt x="0" y="413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163" t="-32145" r="-82474" b="-2175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8479155"/>
            <a:ext cx="786243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S.D. Prematunga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268382R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DAHFQena4D0</dc:identifier>
  <dcterms:modified xsi:type="dcterms:W3CDTF">2011-08-01T06:04:30Z</dcterms:modified>
  <cp:revision>1</cp:revision>
  <dc:title>Cream Neutral Minimalist New Business Pitch Deck Presentation</dc:title>
</cp:coreProperties>
</file>